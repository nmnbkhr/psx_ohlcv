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</a:t>
            </a:r>
            <a:pPr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 </a:t>
            </a:r>
            <a:pPr indent="0" marL="0">
              <a:buNone/>
            </a:pPr>
            <a:r>
              <a:rPr lang="en-US" sz="4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 Terminal for Pakistan Stock Exchange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Institutional-grade analytics for equities, fixed income, FX, commodities &amp; derivatives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2286000" cy="3657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Godaitec (godai.tech) — Karachi, Pakistan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godai.tech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502920"/>
          </a:xfrm>
          <a:prstGeom prst="rect">
            <a:avLst>
              <a:gd name="adj" fmla="val 9091"/>
            </a:avLst>
          </a:prstGeom>
          <a:solidFill>
            <a:srgbClr val="1E253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$24,000/year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1430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 Terminal cost — only ~30 institutions in Pakistan can afford 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8046720" cy="502920"/>
          </a:xfrm>
          <a:prstGeom prst="rect">
            <a:avLst>
              <a:gd name="adj" fmla="val 9091"/>
            </a:avLst>
          </a:prstGeom>
          <a:solidFill>
            <a:srgbClr val="1E253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free tools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17373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institutional-grade analytics exist for PSX outside Bloomberg/Reuters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8046720" cy="502920"/>
          </a:xfrm>
          <a:prstGeom prst="rect">
            <a:avLst>
              <a:gd name="adj" fmla="val 9091"/>
            </a:avLst>
          </a:prstGeom>
          <a:solidFill>
            <a:srgbClr val="1E253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3317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 spread across PSX DPS, SBP, MUFAP, PMEX — no unified 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8046720" cy="502920"/>
          </a:xfrm>
          <a:prstGeom prst="rect">
            <a:avLst>
              <a:gd name="adj" fmla="val 9091"/>
            </a:avLst>
          </a:prstGeom>
          <a:solidFill>
            <a:srgbClr val="1E253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tick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9260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PSX provides no free tick-level market microstructure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8046720" cy="502920"/>
          </a:xfrm>
          <a:prstGeom prst="rect">
            <a:avLst>
              <a:gd name="adj" fmla="val 9091"/>
            </a:avLst>
          </a:prstGeom>
          <a:solidFill>
            <a:srgbClr val="1E253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20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OI analytics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3520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Futures open interest data published but no analytics built on 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8046720" cy="502920"/>
          </a:xfrm>
          <a:prstGeom prst="rect">
            <a:avLst>
              <a:gd name="adj" fmla="val 9091"/>
            </a:avLst>
          </a:prstGeom>
          <a:solidFill>
            <a:srgbClr val="1E253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114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bond terminal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41148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Pakistan's Rs.50T debt market has no free analytical platform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godai.tech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pakfindata — By the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920240" cy="1554480"/>
          </a:xfrm>
          <a:prstGeom prst="rect">
            <a:avLst>
              <a:gd name="adj" fmla="val 4706"/>
            </a:avLst>
          </a:prstGeom>
          <a:solidFill>
            <a:srgbClr val="1E253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34+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97480" y="1188720"/>
            <a:ext cx="1920240" cy="1554480"/>
          </a:xfrm>
          <a:prstGeom prst="rect">
            <a:avLst>
              <a:gd name="adj" fmla="val 4706"/>
            </a:avLst>
          </a:prstGeom>
          <a:solidFill>
            <a:srgbClr val="1E2530"/>
          </a:solidFill>
          <a:ln/>
        </p:spPr>
      </p:sp>
      <p:sp>
        <p:nvSpPr>
          <p:cNvPr id="7" name="Text 5"/>
          <p:cNvSpPr/>
          <p:nvPr/>
        </p:nvSpPr>
        <p:spPr>
          <a:xfrm>
            <a:off x="269748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69748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1920240" cy="1554480"/>
          </a:xfrm>
          <a:prstGeom prst="rect">
            <a:avLst>
              <a:gd name="adj" fmla="val 4706"/>
            </a:avLst>
          </a:prstGeom>
          <a:solidFill>
            <a:srgbClr val="1E253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4.6M+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4632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95160" y="1188720"/>
            <a:ext cx="1920240" cy="1554480"/>
          </a:xfrm>
          <a:prstGeom prst="rect">
            <a:avLst>
              <a:gd name="adj" fmla="val 4706"/>
            </a:avLst>
          </a:prstGeom>
          <a:solidFill>
            <a:srgbClr val="1E2530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9516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1920240" cy="1554480"/>
          </a:xfrm>
          <a:prstGeom prst="rect">
            <a:avLst>
              <a:gd name="adj" fmla="val 4706"/>
            </a:avLst>
          </a:prstGeom>
          <a:solidFill>
            <a:srgbClr val="1E253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54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97480" y="3017520"/>
            <a:ext cx="1920240" cy="1554480"/>
          </a:xfrm>
          <a:prstGeom prst="rect">
            <a:avLst>
              <a:gd name="adj" fmla="val 4706"/>
            </a:avLst>
          </a:prstGeom>
          <a:solidFill>
            <a:srgbClr val="1E2530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3154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697480" y="3840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017520"/>
            <a:ext cx="1920240" cy="1554480"/>
          </a:xfrm>
          <a:prstGeom prst="rect">
            <a:avLst>
              <a:gd name="adj" fmla="val 4706"/>
            </a:avLst>
          </a:prstGeom>
          <a:solidFill>
            <a:srgbClr val="1E2530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154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104x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846320" y="3840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DuckDB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95160" y="3017520"/>
            <a:ext cx="1920240" cy="1554480"/>
          </a:xfrm>
          <a:prstGeom prst="rect">
            <a:avLst>
              <a:gd name="adj" fmla="val 4706"/>
            </a:avLst>
          </a:prstGeom>
          <a:solidFill>
            <a:srgbClr val="1E2530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31546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60fps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95160" y="3840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godai.tech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1097280"/>
          </a:xfrm>
          <a:prstGeom prst="rect">
            <a:avLst>
              <a:gd name="adj" fmla="val 5000"/>
            </a:avLst>
          </a:prstGeom>
          <a:solidFill>
            <a:srgbClr val="1E25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KSE-100 index, market breadth, top gainers/losers, sector performance, macro rates ticker (SBP, KIBOR, FX) — entire market in one screen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0" y="1234440"/>
            <a:ext cx="1554480" cy="822960"/>
          </a:xfrm>
          <a:prstGeom prst="rect">
            <a:avLst>
              <a:gd name="adj" fmla="val 5556"/>
            </a:avLst>
          </a:prstGeom>
          <a:solidFill>
            <a:srgbClr val="0B0E1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12344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15-20 min/day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8046720" cy="1097280"/>
          </a:xfrm>
          <a:prstGeom prst="rect">
            <a:avLst>
              <a:gd name="adj" fmla="val 5000"/>
            </a:avLst>
          </a:prstGeom>
          <a:solidFill>
            <a:srgbClr val="1E253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Pulse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End-of-day report: 277 advancers / 140 decliners, return distribution, volume leaders, value leaders with turnover in PKR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2514600"/>
            <a:ext cx="1554480" cy="822960"/>
          </a:xfrm>
          <a:prstGeom prst="rect">
            <a:avLst>
              <a:gd name="adj" fmla="val 5556"/>
            </a:avLst>
          </a:prstGeom>
          <a:solidFill>
            <a:srgbClr val="0B0E1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25146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Auto-generates daily 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8046720" cy="1097280"/>
          </a:xfrm>
          <a:prstGeom prst="rect">
            <a:avLst>
              <a:gd name="adj" fmla="val 5000"/>
            </a:avLst>
          </a:prstGeom>
          <a:solidFill>
            <a:srgbClr val="1E253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Monitor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0690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PSX indices with 1D/1W/1M/3M returns, 30-day volume. Cross-index comparison reveals sector rotation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3794760"/>
            <a:ext cx="1554480" cy="822960"/>
          </a:xfrm>
          <a:prstGeom prst="rect">
            <a:avLst>
              <a:gd name="adj" fmla="val 5556"/>
            </a:avLst>
          </a:prstGeom>
          <a:solidFill>
            <a:srgbClr val="0B0E11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3794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sector rotation signals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godai.tech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Equities — 9 Pages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3192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Screener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Multi-filter by sector, P/E, market cap + CSV export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93192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564 companies — financials, ratios, announcements from PSX DPS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393192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Per-sector breadth + treemap sized by index weight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393192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Financials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income/balance/cashflow with trend charts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393192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Value, Momentum, Quality, Volatility — adjustable weights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393192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Intraday Terminal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tabs: Dashboard, Charts, Pulse, Volume, Movers, Index, Dedup, Sync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874520"/>
            <a:ext cx="393192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Ticker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539 symbols real-time from PSX DPS API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651760"/>
            <a:ext cx="393192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Futures &amp; OI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open interest + basis analysis + buildup/unwind matrix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429000"/>
            <a:ext cx="393192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Close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prices + closing auction data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godai.tech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Income — 5 Pages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667512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SBP corridor (10.5%), KIBOR bid/offer, T-Bill + PIB cutoffs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06640" y="1188720"/>
            <a:ext cx="1188720" cy="475488"/>
          </a:xfrm>
          <a:prstGeom prst="rect">
            <a:avLst>
              <a:gd name="adj" fmla="val 7692"/>
            </a:avLst>
          </a:prstGeom>
          <a:solidFill>
            <a:srgbClr val="0B0E11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118872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BTMM&lt;GO&gt;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667512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Curve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PKRV/PKISRV term structure — inverted at 3Y (10.2%), Compare mode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06640" y="1965960"/>
            <a:ext cx="1188720" cy="475488"/>
          </a:xfrm>
          <a:prstGeom prst="rect">
            <a:avLst>
              <a:gd name="adj" fmla="val 7692"/>
            </a:avLst>
          </a:prstGeom>
          <a:solidFill>
            <a:srgbClr val="0B0E11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196596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GC&lt;GO&gt;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667512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 Terminal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9718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20-year rate history with SBP basis point annotations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06640" y="2743200"/>
            <a:ext cx="1188720" cy="475488"/>
          </a:xfrm>
          <a:prstGeom prst="rect">
            <a:avLst>
              <a:gd name="adj" fmla="val 7692"/>
            </a:avLst>
          </a:prstGeom>
          <a:solidFill>
            <a:srgbClr val="0B0E11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274320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FXIP&lt;GO&gt;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667512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OTC Bond Market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74904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curve: MTB + PIB + PKRV combined on one chart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06640" y="3520440"/>
            <a:ext cx="1188720" cy="475488"/>
          </a:xfrm>
          <a:prstGeom prst="rect">
            <a:avLst>
              <a:gd name="adj" fmla="val 7692"/>
            </a:avLst>
          </a:prstGeom>
          <a:solidFill>
            <a:srgbClr val="0B0E11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35204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GLC&lt;GO&gt;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4206240"/>
            <a:ext cx="667512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Terminal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45262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securities — CHEAP/RICH signals, Islamic/SLR filters, YTM, duration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06640" y="4297680"/>
            <a:ext cx="1188720" cy="475488"/>
          </a:xfrm>
          <a:prstGeom prst="rect">
            <a:avLst>
              <a:gd name="adj" fmla="val 7692"/>
            </a:avLst>
          </a:prstGeom>
          <a:solidFill>
            <a:srgbClr val="0B0E11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429768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PORT&lt;GO&gt;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 equivalent shown — pakfindata provides same capabilities at zero cost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godai.tech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 4-6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FX, Commodities &amp; Funds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&amp; RATES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046720" cy="548640"/>
          </a:xfrm>
          <a:prstGeom prst="rect">
            <a:avLst>
              <a:gd name="adj" fmla="val 8333"/>
            </a:avLst>
          </a:prstGeom>
          <a:solidFill>
            <a:srgbClr val="1E253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currency pairs × 3 markets (Interbank / Open / Kerb) — spread monitoring, 7 tabs: Charts, Spreads, Volatility, Carry, FX Signals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46720" cy="548640"/>
          </a:xfrm>
          <a:prstGeom prst="rect">
            <a:avLst>
              <a:gd name="adj" fmla="val 8333"/>
            </a:avLst>
          </a:prstGeom>
          <a:solidFill>
            <a:srgbClr val="1E253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23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commodities (Gold, Brent, Cotton, Wheat, NatGas, Sugar, Copper) + PKR conversion + PMEX Portal + 30-day trends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8046720" cy="1188720"/>
          </a:xfrm>
          <a:prstGeom prst="rect">
            <a:avLst>
              <a:gd name="adj" fmla="val 3846"/>
            </a:avLst>
          </a:prstGeom>
          <a:solidFill>
            <a:srgbClr val="1E253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Funds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2316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2316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2336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02336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Income/MM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2356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62356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Islamic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2376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2376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Pension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Shariah filter • NAV tracking • Risk Analytics • Compare Funds • Top Performers • VPS Pension analytics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godai.tech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Research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2103120"/>
          </a:xfrm>
          <a:prstGeom prst="rect">
            <a:avLst>
              <a:gd name="adj" fmla="val 3478"/>
            </a:avLst>
          </a:prstGeom>
          <a:solidFill>
            <a:srgbClr val="1E25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Analysis — 3-Layer Composite Score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1188720"/>
            <a:ext cx="1371600" cy="1371600"/>
          </a:xfrm>
          <a:prstGeom prst="ellipse">
            <a:avLst/>
          </a:prstGeom>
          <a:solidFill>
            <a:srgbClr val="0B0E11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3716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85800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Macro Regime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Hurst exponent, volatility, SMA-200, circuit breakers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1600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27/33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Intraday Anchor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VWAP bands, POC, Value Area, volume profile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2057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33/33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Execution DNA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514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VPIN toxicity, CVD, order flow, block trades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2514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393192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Microstructure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VPIN gauge, volume bucket flow, order imbalance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3337560"/>
            <a:ext cx="393192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Analytics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Market-wide: 4.6M ticks, 485 symbols, 282K trades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393192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Replay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60fps TradingView charts, 0.1x-500x speed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4114800"/>
            <a:ext cx="393192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Cycles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SBP EasyData: 195 datasets, 20-year history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godai.tech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023360" cy="777240"/>
          </a:xfrm>
          <a:prstGeom prst="rect">
            <a:avLst>
              <a:gd name="adj" fmla="val 5882"/>
            </a:avLst>
          </a:prstGeom>
          <a:solidFill>
            <a:srgbClr val="1E253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43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0312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(Python)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81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 dark UI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0" y="1097280"/>
            <a:ext cx="4023360" cy="777240"/>
          </a:xfrm>
          <a:prstGeom prst="rect">
            <a:avLst>
              <a:gd name="adj" fmla="val 5882"/>
            </a:avLst>
          </a:prstGeom>
          <a:solidFill>
            <a:srgbClr val="1E2530"/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1143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DuckDB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4920" y="1481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104x faster than SQLite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4023360" cy="777240"/>
          </a:xfrm>
          <a:prstGeom prst="rect">
            <a:avLst>
              <a:gd name="adj" fmla="val 5882"/>
            </a:avLst>
          </a:prstGeom>
          <a:solidFill>
            <a:srgbClr val="1E253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DB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2395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Configs, reference data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2011680"/>
            <a:ext cx="4023360" cy="777240"/>
          </a:xfrm>
          <a:prstGeom prst="rect">
            <a:avLst>
              <a:gd name="adj" fmla="val 5882"/>
            </a:avLst>
          </a:prstGeom>
          <a:solidFill>
            <a:srgbClr val="1E2530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Storage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+ tick_bars.db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2395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→ local sync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4023360" cy="777240"/>
          </a:xfrm>
          <a:prstGeom prst="rect">
            <a:avLst>
              <a:gd name="adj" fmla="val 5882"/>
            </a:avLst>
          </a:prstGeom>
          <a:solidFill>
            <a:srgbClr val="1E253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971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(Jeddah)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3310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Ampere, 12GB RAM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37760" y="2926080"/>
            <a:ext cx="4023360" cy="777240"/>
          </a:xfrm>
          <a:prstGeom prst="rect">
            <a:avLst>
              <a:gd name="adj" fmla="val 5882"/>
            </a:avLst>
          </a:prstGeom>
          <a:solidFill>
            <a:srgbClr val="1E2530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2971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 + TradingView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3310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60fps tick replay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840480"/>
            <a:ext cx="4023360" cy="777240"/>
          </a:xfrm>
          <a:prstGeom prst="rect">
            <a:avLst>
              <a:gd name="adj" fmla="val 5882"/>
            </a:avLst>
          </a:prstGeom>
          <a:solidFill>
            <a:srgbClr val="1E2530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886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0312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4224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commentary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37760" y="3840480"/>
            <a:ext cx="4023360" cy="777240"/>
          </a:xfrm>
          <a:prstGeom prst="rect">
            <a:avLst>
              <a:gd name="adj" fmla="val 5882"/>
            </a:avLst>
          </a:prstGeom>
          <a:solidFill>
            <a:srgbClr val="1E2530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3886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Data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SBP EasyData API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4224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 datasets, 18K series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godai.tech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— 8 Pipelines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411480"/>
          </a:xfrm>
          <a:prstGeom prst="rect">
            <a:avLst>
              <a:gd name="adj" fmla="val 6667"/>
            </a:avLst>
          </a:prstGeom>
          <a:solidFill>
            <a:srgbClr val="1E253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PSX DPS (Official)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0896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EOD OHLCV, market watch, intraday ticks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8046720" cy="411480"/>
          </a:xfrm>
          <a:prstGeom prst="rect">
            <a:avLst>
              <a:gd name="adj" fmla="val 6667"/>
            </a:avLst>
          </a:prstGeom>
          <a:solidFill>
            <a:srgbClr val="14182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PSX WebSocket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0" y="1508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tick stream via Oracle Cloud VM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0" y="1508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09:14-17:30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8046720" cy="411480"/>
          </a:xfrm>
          <a:prstGeom prst="rect">
            <a:avLst>
              <a:gd name="adj" fmla="val 6667"/>
            </a:avLst>
          </a:prstGeom>
          <a:solidFill>
            <a:srgbClr val="1E253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11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PSX Downloads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0" y="2011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summary, OI, circuit limits, VAR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0" y="2011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8046720" cy="411480"/>
          </a:xfrm>
          <a:prstGeom prst="rect">
            <a:avLst>
              <a:gd name="adj" fmla="val 6667"/>
            </a:avLst>
          </a:prstGeom>
          <a:solidFill>
            <a:srgbClr val="14182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514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SBP EasyData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08960" y="2514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 datasets: KIBOR, CPI, FX, money supply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2514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8046720" cy="411480"/>
          </a:xfrm>
          <a:prstGeom prst="rect">
            <a:avLst>
              <a:gd name="adj" fmla="val 6667"/>
            </a:avLst>
          </a:prstGeom>
          <a:solidFill>
            <a:srgbClr val="1E253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MUFAP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08960" y="3017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1,208 mutual fund NAVs + revaluation rates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30175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520440"/>
            <a:ext cx="8046720" cy="411480"/>
          </a:xfrm>
          <a:prstGeom prst="rect">
            <a:avLst>
              <a:gd name="adj" fmla="val 6667"/>
            </a:avLst>
          </a:prstGeom>
          <a:solidFill>
            <a:srgbClr val="141821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520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PSX Terminal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08960" y="3520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Klines (1m-1w), fundamentals, company data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35204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023360"/>
            <a:ext cx="8046720" cy="411480"/>
          </a:xfrm>
          <a:prstGeom prst="rect">
            <a:avLst>
              <a:gd name="adj" fmla="val 6667"/>
            </a:avLst>
          </a:prstGeom>
          <a:solidFill>
            <a:srgbClr val="1E253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023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PMEX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08960" y="4023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futures OHLC + margin data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0" y="4023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526280"/>
            <a:ext cx="8046720" cy="411480"/>
          </a:xfrm>
          <a:prstGeom prst="rect">
            <a:avLst>
              <a:gd name="adj" fmla="val 6667"/>
            </a:avLst>
          </a:prstGeom>
          <a:solidFill>
            <a:srgbClr val="141821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526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08960" y="4526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rates (TT Buying/Selling)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45262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godai.tech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Positioning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83464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2336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Reuters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1208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PSX Web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005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pakfindata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8046720" cy="393192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17320"/>
            <a:ext cx="2286000" cy="3931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41732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$24,000+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0" y="141732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0" y="141732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1417320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1856232"/>
            <a:ext cx="8046720" cy="393192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856232"/>
            <a:ext cx="2286000" cy="3931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PSX Tick 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185623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23360" y="185623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185623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1856232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295144"/>
            <a:ext cx="8046720" cy="393192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295144"/>
            <a:ext cx="2286000" cy="3931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OI Analytics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229514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23360" y="229514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0" y="229514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295144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2734056"/>
            <a:ext cx="8046720" cy="393192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2734056"/>
            <a:ext cx="2286000" cy="3931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VPIN Toxicity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0" y="273405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023360" y="273405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0" y="273405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734056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3172968"/>
            <a:ext cx="8046720" cy="393192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172968"/>
            <a:ext cx="2286000" cy="3931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Signals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34640" y="317296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023360" y="317296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12080" y="317296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3172968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3611880"/>
            <a:ext cx="8046720" cy="393192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3611880"/>
            <a:ext cx="2286000" cy="3931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SBP Macro (195 sets)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834640" y="361188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023360" y="361188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12080" y="361188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0" y="3611880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4050792"/>
            <a:ext cx="8046720" cy="393192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4050792"/>
            <a:ext cx="2286000" cy="3931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Replay 60fps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834640" y="405079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023360" y="405079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12080" y="405079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0" y="4050792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8640" y="4489704"/>
            <a:ext cx="8046720" cy="393192"/>
          </a:xfrm>
          <a:prstGeom prst="rect">
            <a:avLst/>
          </a:prstGeom>
          <a:solidFill>
            <a:srgbClr val="141821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4489704"/>
            <a:ext cx="2286000" cy="3931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CHEAP/RICH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834640" y="448970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023360" y="448970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212080" y="448970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00800" y="4489704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godai.tech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Unique Differentiators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402336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216152"/>
            <a:ext cx="320040" cy="32004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16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composite signal scoring (unique to PSX)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02336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993392"/>
            <a:ext cx="320040" cy="32004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93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92024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VPIN toxicity monitoring — exchange-grade microstructure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402336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770632"/>
            <a:ext cx="320040" cy="32004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70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269748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60fps tick replay with TradingView charts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402336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547872"/>
            <a:ext cx="320040" cy="32004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347472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CHEAP/RICH bond signals for 160 debt securities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402336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325112"/>
            <a:ext cx="320040" cy="32004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325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425196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open interest + derivatives buildup/unwind matrix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051560"/>
            <a:ext cx="402336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24" name="Shape 22"/>
          <p:cNvSpPr/>
          <p:nvPr/>
        </p:nvSpPr>
        <p:spPr>
          <a:xfrm>
            <a:off x="4983480" y="1216152"/>
            <a:ext cx="320040" cy="32004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216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114300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20-year SBP rate history with basis point annotations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1828800"/>
            <a:ext cx="402336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28" name="Shape 26"/>
          <p:cNvSpPr/>
          <p:nvPr/>
        </p:nvSpPr>
        <p:spPr>
          <a:xfrm>
            <a:off x="4983480" y="1993392"/>
            <a:ext cx="320040" cy="32004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1993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40680" y="192024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1,208 mutual funds with Shariah compliance filter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606040"/>
            <a:ext cx="402336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32" name="Shape 30"/>
          <p:cNvSpPr/>
          <p:nvPr/>
        </p:nvSpPr>
        <p:spPr>
          <a:xfrm>
            <a:off x="4983480" y="2770632"/>
            <a:ext cx="320040" cy="32004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770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40680" y="269748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spread monitoring across 3 market layers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383280"/>
            <a:ext cx="402336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36" name="Shape 34"/>
          <p:cNvSpPr/>
          <p:nvPr/>
        </p:nvSpPr>
        <p:spPr>
          <a:xfrm>
            <a:off x="4983480" y="3547872"/>
            <a:ext cx="320040" cy="32004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40680" y="347472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prices in PKR with PMEX portal integration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4160520"/>
            <a:ext cx="4023360" cy="658368"/>
          </a:xfrm>
          <a:prstGeom prst="rect">
            <a:avLst>
              <a:gd name="adj" fmla="val 6944"/>
            </a:avLst>
          </a:prstGeom>
          <a:solidFill>
            <a:srgbClr val="1E2530"/>
          </a:solidFill>
          <a:ln/>
        </p:spPr>
      </p:sp>
      <p:sp>
        <p:nvSpPr>
          <p:cNvPr id="40" name="Shape 38"/>
          <p:cNvSpPr/>
          <p:nvPr/>
        </p:nvSpPr>
        <p:spPr>
          <a:xfrm>
            <a:off x="4983480" y="4325112"/>
            <a:ext cx="320040" cy="320040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4325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40680" y="425196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DuckDB analytics engine — 104x faster than SQLite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godai.tech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594360"/>
          </a:xfrm>
          <a:prstGeom prst="rect">
            <a:avLst>
              <a:gd name="adj" fmla="val 7692"/>
            </a:avLst>
          </a:prstGeom>
          <a:solidFill>
            <a:srgbClr val="1E25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43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SaaS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143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terminal for brokers/funds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0" y="1143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PKR 50K-500K/mo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8046720" cy="594360"/>
          </a:xfrm>
          <a:prstGeom prst="rect">
            <a:avLst>
              <a:gd name="adj" fmla="val 7692"/>
            </a:avLst>
          </a:prstGeom>
          <a:solidFill>
            <a:srgbClr val="1E253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Licensing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18745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Processed PSX data via API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Per-query / flat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8046720" cy="594360"/>
          </a:xfrm>
          <a:prstGeom prst="rect">
            <a:avLst>
              <a:gd name="adj" fmla="val 7692"/>
            </a:avLst>
          </a:prstGeom>
          <a:solidFill>
            <a:srgbClr val="1E253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606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Custom-branded for brokerages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+ monthly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8046720" cy="594360"/>
          </a:xfrm>
          <a:prstGeom prst="rect">
            <a:avLst>
              <a:gd name="adj" fmla="val 7692"/>
            </a:avLst>
          </a:prstGeom>
          <a:solidFill>
            <a:srgbClr val="1E253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37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3337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deployment for banks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3337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PKR 5M+ annual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8046720" cy="594360"/>
          </a:xfrm>
          <a:prstGeom prst="rect">
            <a:avLst>
              <a:gd name="adj" fmla="val 7692"/>
            </a:avLst>
          </a:prstGeom>
          <a:solidFill>
            <a:srgbClr val="1E253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69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0" y="4069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using pakfindata platform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4069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/ project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godai.tech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</a:t>
            </a:r>
            <a:pPr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 </a:t>
            </a:r>
            <a:pPr indent="0" marL="0">
              <a:buNone/>
            </a:pPr>
            <a:r>
              <a:rPr lang="en-US" sz="48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Pakistan's markets meet institutional-grade analytics.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2286000" cy="3657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004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Godaitec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godai.tech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info@godai.tech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Karachi, Pakistan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godai.tech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pakfindata — Bloomberg Terminal for Pakistan</dc:title>
  <dc:subject>PptxGenJS Presentation</dc:subject>
  <dc:creator>Godaitec</dc:creator>
  <cp:lastModifiedBy>Godaitec</cp:lastModifiedBy>
  <cp:revision>1</cp:revision>
  <dcterms:created xsi:type="dcterms:W3CDTF">2026-03-25T15:01:57Z</dcterms:created>
  <dcterms:modified xsi:type="dcterms:W3CDTF">2026-03-25T15:01:57Z</dcterms:modified>
</cp:coreProperties>
</file>